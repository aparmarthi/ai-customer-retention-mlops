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4181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2743200"/>
            <a:ext cx="2286000" cy="2286000"/>
          </a:xfrm>
          <a:prstGeom prst="ellipse">
            <a:avLst/>
          </a:prstGeom>
          <a:solidFill>
            <a:srgbClr val="14B8A6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RETENTION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Decision Intelligence Platform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2286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468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31 GB of Raw Data to a Production Decision Engine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Amey Parmarthi  |  ML Engineering Bootcamp Capstone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github.com/aparmarthi/ai-customer-retention-mlops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API: </a:t>
            </a: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ai-customer-retention-mlops.onrender.com/docs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8691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Retention Platform  |  Amey Parmarthi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Subscription Business Faces Three Questions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80467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16642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will churn?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19933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probability score for every subscriber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560320"/>
            <a:ext cx="80467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27432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267004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should we target?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29992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policy: budget-bounded top-K or ROI-optimal threshold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566160"/>
            <a:ext cx="80467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37490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63040" y="367588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financial impact?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40050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net ROI under configurable cost assumptions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5720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Probability  --&gt;  Decision Policy  --&gt;  Financial Outcome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Data: 31 GB of Real KKBox Subscriptions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8691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Retention Platform  |  Amey Parmarthi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143000"/>
            <a:ext cx="1828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143000"/>
            <a:ext cx="18288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280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GB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Size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1143000"/>
            <a:ext cx="1828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1143000"/>
            <a:ext cx="18288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1280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~1M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60604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143000"/>
            <a:ext cx="1828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143000"/>
            <a:ext cx="18288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280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1.24%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6344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20840" y="1143000"/>
            <a:ext cx="1828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0840" y="1143000"/>
            <a:ext cx="1828800" cy="548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1280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72084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Built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8046720" cy="224028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data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~31 GB (4 tables)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million subscribers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range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2015 -- Feb 2017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Members, Transactions, User Logs, Labels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Processed model 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193,205 rows, ~40 features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churn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1.24% (severe class imbalance)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548640" y="45720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31 GB was processed end-to-end -- not sampled, not approximated.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8-Step Reproducible ETL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8691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Retention Platform  |  Amey Parmarthi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143000"/>
            <a:ext cx="3931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30759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07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234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to Parquet (3.4x compression)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1527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streaming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143000"/>
            <a:ext cx="3931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92040" y="130759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307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40680" y="1234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user-month spine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40680" y="1527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SQL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011680"/>
            <a:ext cx="3931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217627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2103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transactions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34440" y="2395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2-stage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011680"/>
            <a:ext cx="3931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92040" y="217627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40680" y="2103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user logs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40680" y="2395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2-stage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2880360"/>
            <a:ext cx="3931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5800" y="304495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34440" y="2971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all to model_table (118 MB)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34440" y="32644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2880360"/>
            <a:ext cx="3931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92040" y="304495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40680" y="2971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sample data for CI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40680" y="32644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3749040"/>
            <a:ext cx="3931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85800" y="391363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" y="3913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234440" y="3840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recency/tenure/frequency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234440" y="41330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3749040"/>
            <a:ext cx="3931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92040" y="391363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4" name="Text 42"/>
          <p:cNvSpPr/>
          <p:nvPr/>
        </p:nvSpPr>
        <p:spPr>
          <a:xfrm>
            <a:off x="4892040" y="3913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440680" y="3840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SageMaker subset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40680" y="41330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8640" y="4572000"/>
            <a:ext cx="804672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48640" y="4572000"/>
            <a:ext cx="80467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9" name="Text 47"/>
          <p:cNvSpPr/>
          <p:nvPr/>
        </p:nvSpPr>
        <p:spPr>
          <a:xfrm>
            <a:off x="731520" y="461772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DuckDB? pandas would OOM on 29 GB user_logs.csv. DuckDB streams it with 4 GB RAM.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Holdout (Not Random Split)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8691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Retention Platform  |  Amey Parmarthi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143000"/>
            <a:ext cx="39319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Split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 0.9875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PR-AUC: 0.8771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rate: ~6%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1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Leaks temporal patterns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39319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143000"/>
            <a:ext cx="39319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Holdout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164592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 0.9660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PR-AUC: 0.5392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rate: 1.24%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production conditions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80467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374904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time-based?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everything up to Jan 31, 2017. Validate on Feb 2017 (the future the model has never seen). This is how it works in production: you train on history and predict tomorrow. The lower time-based numbers are more honest.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Architectures Benchmarked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8691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Retention Platform  |  Amey Parmarthi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2779776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(Champion)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~3.7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FT-Transformer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~23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~32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840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evaluated: Logistic Regression, Decision Tree, FLAML AutoML, Ensemble (12 total)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4160520"/>
            <a:ext cx="80467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4160520"/>
            <a:ext cx="80467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42519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PR-AUC as primary metric?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1.24% churn, ROC-AUC looks great (0.96+) even when the model wastes outreach budget. PR-AUC directly measures how well churners are concentrated at the top of the ranked list.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Champion: LightGBM + FLAML AutoML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8691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Retention Platform  |  Amey Parmarthi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828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43000"/>
            <a:ext cx="18288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80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0.9660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23160" y="1143000"/>
            <a:ext cx="1828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1143000"/>
            <a:ext cx="18288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2423160" y="1280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0.5392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42316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80560" y="1143000"/>
            <a:ext cx="1828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80560" y="1143000"/>
            <a:ext cx="18288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1280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43.5x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48056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vs Base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37960" y="1143000"/>
            <a:ext cx="1828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1143000"/>
            <a:ext cx="18288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1280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$17.7K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53796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ROI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2331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FLAML independently confirmed LightGBM as the best architecture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2697480"/>
            <a:ext cx="39319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2743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30632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@ top-10K:  18.0%  (3x vs churn rate)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@ top-10K:  75.0%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ROI-optimal:  $17,666  (1,478 users targeted)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time:  ~3 minutes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Inference:  &lt;10ms per record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2697480"/>
            <a:ext cx="39319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2697480"/>
            <a:ext cx="39319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2743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FLAML Discoveries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30632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num_leaves = 1,212 (vs manual 64)</a:t>
            </a:r>
            <a:endParaRPr lang="en-US" sz="1000" dirty="0"/>
          </a:p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Much deeper trees generalize better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reg_alpha = 0.56</a:t>
            </a:r>
            <a:endParaRPr lang="en-US" sz="1000" dirty="0"/>
          </a:p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Stronger L1 regularization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 = 0.036 (146 iterations)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Churn Drivers -- Fully Explainable (SHAP)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8691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Retention Platform  |  Amey Parmarthi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3657600" cy="228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097280"/>
          <a:ext cx="4297680" cy="21336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Signal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auto_renew_rate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Auto-renewal opt-in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cancel_rate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cancellations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plan_list_price_max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sensitivity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log_last_date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Recency of activity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membership_expire_date_max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Subscription horizon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6"/>
          <p:cNvSpPr/>
          <p:nvPr/>
        </p:nvSpPr>
        <p:spPr>
          <a:xfrm>
            <a:off x="548640" y="3749040"/>
            <a:ext cx="8046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" y="384048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confirms the model learned causally plausible signals --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spurious correlations. Every prediction is decomposable into per-feature contributions, enabling stakeholders to understand and trust the model's decisions.</a:t>
            </a:r>
            <a:endParaRPr lang="en-US" sz="1100" dirty="0"/>
          </a:p>
        </p:txBody>
      </p:sp>
      <p:pic>
        <p:nvPicPr>
          <p:cNvPr id="12" name="Picture 11" descr="A screen shot of a graph&#10;&#10;AI-generated content may be incorrect.">
            <a:extLst>
              <a:ext uri="{FF2B5EF4-FFF2-40B4-BE49-F238E27FC236}">
                <a16:creationId xmlns:a16="http://schemas.microsoft.com/office/drawing/2014/main" id="{5C4AA360-E5A5-B309-01F3-CCC6D2B89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146" y="905256"/>
            <a:ext cx="1946441" cy="27980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Decision Policies -- Not Just Predictions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8691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Retention Platform  |  Amey Parmarthi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143000"/>
            <a:ext cx="39319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143000"/>
            <a:ext cx="39319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1: Ops-Friendly Top-K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6459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top 10,000 highest-risk subscribers each month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18%  |  Recall: 75%</a:t>
            </a:r>
            <a:endParaRPr lang="en-US" sz="11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budget, no threshold tuning needed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39319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43000"/>
            <a:ext cx="39319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2: ROI-Optimal Threshold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6459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subscribers above probability 0.68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70.6%  |  Contacts: 1,478</a:t>
            </a:r>
            <a:endParaRPr lang="en-US" sz="11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ROI: $17,666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3246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ROI  =  (TP x save_rate x churn_cost) - (N_targeted x intervention_cost)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804672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Cost/Contact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Low-cost outreach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~$12,200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Incentive offers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Cost-sensitive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ROI-optimal threshold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$17,666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Experiment Governance (MLflow)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8691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Retention Platform  |  Amey Parmarthi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model runs tracked in MLflow experiment: kkbox_churn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8046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554480"/>
            <a:ext cx="80467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92024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policy, feature version, all hyperparameters (auto-flattened)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8046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377440"/>
            <a:ext cx="80467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274320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ROC-AUC, PR-AUC, F1, Precision@K, Recall@K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8046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200400"/>
            <a:ext cx="80467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356616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model.pkl, scored validation set, threshold sweep, SHAP plots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418795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design: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artifact bundles (every metric traces to exact data) | Split method audit trail | Standardized naming across all 12 experiments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API: FastAPI + Docker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8691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Retention Platform  |  Amey Parmarthi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502920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/health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status, artifact paths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/predict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Single-record churn + threshold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/predict_batch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scoring (JSON/CSV) + top-K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852160" y="1143000"/>
            <a:ext cx="29260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52160" y="1143000"/>
            <a:ext cx="29260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5989320" y="1280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Features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89320" y="164592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serving policies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alignment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logging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logging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pytest tests</a:t>
            </a:r>
            <a:endParaRPr lang="en-US" sz="1000" dirty="0"/>
          </a:p>
        </p:txBody>
      </p:sp>
      <p:sp>
        <p:nvSpPr>
          <p:cNvPr id="7" name="Shape 9"/>
          <p:cNvSpPr/>
          <p:nvPr/>
        </p:nvSpPr>
        <p:spPr>
          <a:xfrm>
            <a:off x="548640" y="2743200"/>
            <a:ext cx="5029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31520" y="27889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31520" y="30175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API: localhost:8000/docs  |  Dashboard: localhost:8501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3474720"/>
            <a:ext cx="8046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" y="3474720"/>
            <a:ext cx="804672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35661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now: </a:t>
            </a: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ai-customer-retention-mlops.onrender.com/docs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Stakeholder-Facing Dashboard (Streamlit)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8691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Retention Platform  |  Amey Parmarthi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4114800" cy="2743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Screenshot of Streamlit app]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37760" y="1097280"/>
            <a:ext cx="3840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097280"/>
            <a:ext cx="38404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2070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Prediction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20640" y="14813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user features, get churn probability + action label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37760" y="2011680"/>
            <a:ext cx="3840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2011680"/>
            <a:ext cx="38404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21214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Scoring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23957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CSV, score all users, download results with ranks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37760" y="2926080"/>
            <a:ext cx="3840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2926080"/>
            <a:ext cx="38404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30358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Simulator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33101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cost assumptions with sliders, see real-time ROI impact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413308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ROI Simulator lets non-technical stakeholders explore trade-offs without touching the model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GitHub Actions CI/CD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8691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Retention Platform  |  Amey Parmarthi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143000"/>
            <a:ext cx="39319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143000"/>
            <a:ext cx="39319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 (~400 MB)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64592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python:3.11-slim base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Serving-only deps (requirements-serve.txt)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appuser (security)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 for orchestrators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artifacts frozen in image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39319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43000"/>
            <a:ext cx="39319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(GitHub Actions)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37760" y="1691640"/>
            <a:ext cx="109728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5166360" y="1691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TEST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test_api.py (16 tests)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37760" y="2194560"/>
            <a:ext cx="109728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166360" y="2194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BUILD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+ push to ECR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2697480"/>
            <a:ext cx="109728" cy="3200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2697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DEPLOY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Fargate rolling deploy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37033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main  --&gt;  tests pass  --&gt;  image built  --&gt;  deployed  --&gt;  ALB health check: /health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Training Validation (AWS SageMaker)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8691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Retention Platform  |  Amey Parmarthi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143000"/>
            <a:ext cx="3931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(Champion)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6002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 0.9660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PR-AUC: 0.5392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Rapid iteration, 12 experiments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Free (local hardware)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3931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143000"/>
            <a:ext cx="39319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(Validation)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6002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 0.9484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PR-AUC: 0.4707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Cloud workflow proof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Pay-per-minute EC2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80467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3108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controlled job demonstrated: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34290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data ingestion (train channel)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Mode execution (train.py)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packaging (model.tar.gz --&gt; S3)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 integration (versioned, approval-gated)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All-AWS Production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8691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Retention Platform  |  Amey Parmarthi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19659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97280"/>
            <a:ext cx="19659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344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164592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KKBox DB (31 GB)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8-step ETL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40280" y="21031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--&gt;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60320" y="1097280"/>
            <a:ext cx="19659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0" y="1097280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12344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97480" y="164592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LightGBM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Tracking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34840" y="21031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--&gt;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54880" y="1097280"/>
            <a:ext cx="19659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097280"/>
            <a:ext cx="196596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2344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92040" y="164592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Fargate (Docker)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Load Balancer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29400" y="21031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--&gt;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949440" y="1097280"/>
            <a:ext cx="19659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49440" y="1097280"/>
            <a:ext cx="19659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0" y="12344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086600" y="164592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Metrics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/ Errors / Drift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Alerts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886200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886200"/>
            <a:ext cx="84124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9776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CI/CD: GitHub Actions  --&gt;  pytest  --&gt;  Docker build  --&gt;  ECR push  --&gt;  ECS deploy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44805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cost: ~$26/month at low-to-moderate inference volume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Model Care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8691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Retention Platform  |  Amey Parmarthi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Threshold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Latency, errors, memory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CloudWatch + ALB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p95 &gt; 500ms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 drift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KS-test monthly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shift &gt; 2 std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Precision@K, ROI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Actuals join (30-day lag)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 &lt; 0.90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Triggers</a:t>
            </a:r>
            <a:endParaRPr lang="en-US" sz="14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pipeline: pull --&gt; train --&gt; evaluate --&gt; deploy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 &lt; 0.90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 retrain within 48 hours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&gt;3 features drifting (KS p&lt;0.01)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Investigate, retrain if metrics degrade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48640" y="4160520"/>
            <a:ext cx="804672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8"/>
          <p:cNvSpPr/>
          <p:nvPr/>
        </p:nvSpPr>
        <p:spPr>
          <a:xfrm>
            <a:off x="777240" y="423367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Rollback: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Docker image tagged with git SHA. ECS keeps previous task definitions. Rollback time: &lt; 5 minutes.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1M Users to 1B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8691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Retention Platform  |  Amey Parmarthi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9144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Required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DuckDB (local)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310 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DuckDB (local)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TB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Spark SQL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 engine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TB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BigQuery/Spark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 engine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017520"/>
            <a:ext cx="80467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310896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doesn't require redesign -- only swapping the execution engine.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2-stage aggregation pattern, Parquet format, and LightGBM all scale linearly. DuckDB handles 31 GB on a laptop today. Spark handles 31 TB in the cloud tomorrow. Same SQL, same feature logic.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ML Engineering Competencies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8691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Retention Platform  |  Amey Parmarthi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3931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051560"/>
            <a:ext cx="73152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097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8-step pipeline, 31 GB DuckDB, Parquet storage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3931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51560"/>
            <a:ext cx="73152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097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architectures, FLAML AutoML, time-based eval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1709928"/>
            <a:ext cx="3931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1709928"/>
            <a:ext cx="73152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17556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1984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tracking, SageMaker validation, Model Registry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709928"/>
            <a:ext cx="3931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709928"/>
            <a:ext cx="73152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17556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1984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PR-AUC, threshold sweep, ROI simulation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2368296"/>
            <a:ext cx="3931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2368296"/>
            <a:ext cx="73152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24140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26426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analysis, business signal mapping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2368296"/>
            <a:ext cx="3931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368296"/>
            <a:ext cx="73152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24140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Engineering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26426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Pydantic, two policies, 16 tests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3026664"/>
            <a:ext cx="3931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8640" y="3026664"/>
            <a:ext cx="73152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30723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" y="33009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slim, HEALTHCHECK, docker-compose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3026664"/>
            <a:ext cx="3931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026664"/>
            <a:ext cx="73152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30723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37760" y="33009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Actions: test --&gt; build --&gt; deploy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8640" y="3685032"/>
            <a:ext cx="3931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48640" y="3685032"/>
            <a:ext cx="73152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37307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31520" y="39593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+ Model Registry, ECS Fargate arch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3685032"/>
            <a:ext cx="3931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54880" y="3685032"/>
            <a:ext cx="73152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5" name="Text 43"/>
          <p:cNvSpPr/>
          <p:nvPr/>
        </p:nvSpPr>
        <p:spPr>
          <a:xfrm>
            <a:off x="4937760" y="37307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Translation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937760" y="39593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framework, cost scenarios, A/B design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3657600" cy="1463040"/>
          </a:xfrm>
          <a:prstGeom prst="rect">
            <a:avLst/>
          </a:prstGeom>
          <a:solidFill>
            <a:srgbClr val="1A2A3E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36576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(Swagger UI)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9659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Click POST /predict --&gt; Try it out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Paste a feature record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See churn probability + action label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657600" cy="1463040"/>
          </a:xfrm>
          <a:prstGeom prst="rect">
            <a:avLst/>
          </a:prstGeom>
          <a:solidFill>
            <a:srgbClr val="1A2A3E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463040"/>
            <a:ext cx="3657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(Streamlit)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19659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1: Single prediction with JSON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2: Upload CSV for batch scoring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3: ROI simulator with sliders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2918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ai-customer-retention-mlops.onrender.com/docs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7490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github.com/aparmarthi/ai-customer-retention-mlops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28800" y="4206240"/>
            <a:ext cx="5486400" cy="457200"/>
          </a:xfrm>
          <a:prstGeom prst="rect">
            <a:avLst/>
          </a:prstGeom>
          <a:solidFill>
            <a:srgbClr val="1A2A3E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828800" y="42519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28800" y="44622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API: localhost:8000/docs  |  Dashboard: localhost:8501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371600"/>
            <a:ext cx="3657600" cy="365760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822960"/>
            <a:ext cx="18288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is harder than training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was done in Step 4. Steps 5-12 are everything else.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719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719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metric changes everything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1993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to PR-AUC under 1.24% imbalance changed which models looked good.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432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432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don't make decisions -- policies do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2706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churn probability is useless without a targeting policy.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1455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decisions should be lazy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34198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handles 31 GB on a laptop. Choose the simplest tool that works today.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3858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858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infrastructure yourself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4133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Docker + CI/CD from scratch forces understanding of every layer.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4617720"/>
            <a:ext cx="27432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1913</Words>
  <Application>Microsoft Office PowerPoint</Application>
  <PresentationFormat>On-screen Show (16:9)</PresentationFormat>
  <Paragraphs>437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Customer Retention &amp; Decision Intelligence Platform</dc:title>
  <dc:subject>PptxGenJS Presentation</dc:subject>
  <dc:creator>Amey Parmarthi</dc:creator>
  <cp:lastModifiedBy>Amey Parmarthi</cp:lastModifiedBy>
  <cp:revision>2</cp:revision>
  <dcterms:created xsi:type="dcterms:W3CDTF">2026-03-30T15:03:18Z</dcterms:created>
  <dcterms:modified xsi:type="dcterms:W3CDTF">2026-03-30T15:08:46Z</dcterms:modified>
</cp:coreProperties>
</file>